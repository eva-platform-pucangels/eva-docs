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04304" y="877824"/>
            <a:ext cx="1005840" cy="548640"/>
          </a:xfrm>
          <a:prstGeom prst="line">
            <a:avLst/>
          </a:prstGeom>
          <a:noFill/>
          <a:ln w="9525">
            <a:solidFill>
              <a:srgbClr val="2EE6A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010144" y="694944"/>
            <a:ext cx="640080" cy="731520"/>
          </a:xfrm>
          <a:prstGeom prst="line">
            <a:avLst/>
          </a:prstGeom>
          <a:noFill/>
          <a:ln w="9525">
            <a:solidFill>
              <a:srgbClr val="2EE6A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7552944" y="1426464"/>
            <a:ext cx="457200" cy="822960"/>
          </a:xfrm>
          <a:prstGeom prst="line">
            <a:avLst/>
          </a:prstGeom>
          <a:noFill/>
          <a:ln w="9525">
            <a:solidFill>
              <a:srgbClr val="2EE6A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52944" y="2249424"/>
            <a:ext cx="914400" cy="640080"/>
          </a:xfrm>
          <a:prstGeom prst="line">
            <a:avLst/>
          </a:prstGeom>
          <a:noFill/>
          <a:ln w="9525">
            <a:solidFill>
              <a:srgbClr val="2EE6A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278624" y="2249424"/>
            <a:ext cx="274320" cy="1280160"/>
          </a:xfrm>
          <a:prstGeom prst="line">
            <a:avLst/>
          </a:prstGeom>
          <a:noFill/>
          <a:ln w="9525">
            <a:solidFill>
              <a:srgbClr val="2EE6A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67344" y="2889504"/>
            <a:ext cx="274320" cy="1371600"/>
          </a:xfrm>
          <a:prstGeom prst="line">
            <a:avLst/>
          </a:prstGeom>
          <a:noFill/>
          <a:ln w="9525">
            <a:solidFill>
              <a:srgbClr val="2EE6A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78624" y="3529584"/>
            <a:ext cx="640080" cy="1188720"/>
          </a:xfrm>
          <a:prstGeom prst="line">
            <a:avLst/>
          </a:prstGeom>
          <a:noFill/>
          <a:ln w="9525">
            <a:solidFill>
              <a:srgbClr val="2EE6A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918704" y="4261104"/>
            <a:ext cx="822960" cy="457200"/>
          </a:xfrm>
          <a:prstGeom prst="line">
            <a:avLst/>
          </a:prstGeom>
          <a:noFill/>
          <a:ln w="9525">
            <a:solidFill>
              <a:srgbClr val="2EE6A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822960"/>
            <a:ext cx="109728" cy="109728"/>
          </a:xfrm>
          <a:prstGeom prst="ellipse">
            <a:avLst/>
          </a:prstGeom>
          <a:solidFill>
            <a:srgbClr val="2EE6A8"/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0" y="1371600"/>
            <a:ext cx="109728" cy="109728"/>
          </a:xfrm>
          <a:prstGeom prst="ellipse">
            <a:avLst/>
          </a:prstGeom>
          <a:solidFill>
            <a:srgbClr val="2EE6A8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640080"/>
            <a:ext cx="109728" cy="109728"/>
          </a:xfrm>
          <a:prstGeom prst="ellipse">
            <a:avLst/>
          </a:prstGeom>
          <a:solidFill>
            <a:srgbClr val="2EE6A8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0" y="2194560"/>
            <a:ext cx="109728" cy="109728"/>
          </a:xfrm>
          <a:prstGeom prst="ellipse">
            <a:avLst/>
          </a:prstGeom>
          <a:solidFill>
            <a:srgbClr val="2EE6A8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2834640"/>
            <a:ext cx="109728" cy="109728"/>
          </a:xfrm>
          <a:prstGeom prst="ellipse">
            <a:avLst/>
          </a:prstGeom>
          <a:solidFill>
            <a:srgbClr val="2EE6A8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0" y="3474720"/>
            <a:ext cx="109728" cy="109728"/>
          </a:xfrm>
          <a:prstGeom prst="ellipse">
            <a:avLst/>
          </a:prstGeom>
          <a:solidFill>
            <a:srgbClr val="2EE6A8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0" y="4206240"/>
            <a:ext cx="109728" cy="109728"/>
          </a:xfrm>
          <a:prstGeom prst="ellipse">
            <a:avLst/>
          </a:prstGeom>
          <a:solidFill>
            <a:srgbClr val="2EE6A8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4663440"/>
            <a:ext cx="109728" cy="109728"/>
          </a:xfrm>
          <a:prstGeom prst="ellipse">
            <a:avLst/>
          </a:prstGeom>
          <a:solidFill>
            <a:srgbClr val="2EE6A8">
              <a:alpha val="6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COMITÊ DE IA  ·  PUC ANGELS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141732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EVA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640080" y="25146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Local, Privada e Open Source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324612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que roda no seu computador — com privacidade por design, construída de forma colaborativa pela comunidade.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297680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51560" y="42793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por design  ·  100% open source  ·  Esforço voluntário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IA hoje é alugada, não sua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Membros da rede PUC Angels e usuários individuais enfrentam barreiras reais para acessar IA verdadeiramente privada, personalizada e independente dos grandes provedores. Quase tudo depende de infraestrutura em nuvem.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3F6F9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12848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500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9077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recorrentes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" y="33101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Assinaturas e cobrança por uso criam uma barreira financeira contínua à adoção de IA.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9659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3F6F9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2212848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3500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9077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de privacidade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93008" y="33101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e de negócio trafegam por servidores de terceiros, sem controle real do usuário.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9659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3F6F9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2212848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5000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6208" y="29077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terceiros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36208" y="33101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de preço, política ou disponibilidade dos provedores afetam diretamente quem depende deles.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8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 na prática: </a:t>
            </a:r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de IA travada por custo elevado, preocupação com privacidade e falta de controle sobre os próprios dados.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solução: EVA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de IA que roda diretamente no computador do usuário — Mac e Windows — com privacidade por design e integração ao ecossistema de IA já existente (ChatGPT, Gemini, DeepSeek).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931920" cy="1298448"/>
          </a:xfrm>
          <a:prstGeom prst="roundRect">
            <a:avLst>
              <a:gd name="adj" fmla="val 5634"/>
            </a:avLst>
          </a:prstGeom>
          <a:solidFill>
            <a:srgbClr val="16283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286000"/>
            <a:ext cx="548640" cy="548640"/>
          </a:xfrm>
          <a:prstGeom prst="ellipse">
            <a:avLst/>
          </a:prstGeom>
          <a:solidFill>
            <a:srgbClr val="0E8C6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423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6654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por design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63040" y="243230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dados nunca saem da sua máquina sem a sua decisão. Execução 100% local.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920240"/>
            <a:ext cx="3931920" cy="1298448"/>
          </a:xfrm>
          <a:prstGeom prst="roundRect">
            <a:avLst>
              <a:gd name="adj" fmla="val 5634"/>
            </a:avLst>
          </a:prstGeom>
          <a:solidFill>
            <a:srgbClr val="16283C"/>
          </a:solidFill>
          <a:ln/>
        </p:spPr>
      </p:sp>
      <p:sp>
        <p:nvSpPr>
          <p:cNvPr id="10" name="Shape 7"/>
          <p:cNvSpPr/>
          <p:nvPr/>
        </p:nvSpPr>
        <p:spPr>
          <a:xfrm>
            <a:off x="4864608" y="2286000"/>
            <a:ext cx="548640" cy="548640"/>
          </a:xfrm>
          <a:prstGeom prst="ellipse">
            <a:avLst/>
          </a:prstGeom>
          <a:solidFill>
            <a:srgbClr val="0E8C6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4231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206654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local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77840" y="243230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no computador do usuário, sem custos recorrentes de nuvem e sem dependência de terceiros.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3931920" cy="1298448"/>
          </a:xfrm>
          <a:prstGeom prst="roundRect">
            <a:avLst>
              <a:gd name="adj" fmla="val 5634"/>
            </a:avLst>
          </a:prstGeom>
          <a:solidFill>
            <a:srgbClr val="16283C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749040"/>
            <a:ext cx="548640" cy="548640"/>
          </a:xfrm>
          <a:prstGeom prst="ellipse">
            <a:avLst/>
          </a:prstGeom>
          <a:solidFill>
            <a:srgbClr val="0E8C6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8862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5295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463040" y="389534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aberto, colaboração comunitária e evolução contínua guiada pela própria rede.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3383280"/>
            <a:ext cx="3931920" cy="1298448"/>
          </a:xfrm>
          <a:prstGeom prst="roundRect">
            <a:avLst>
              <a:gd name="adj" fmla="val 5634"/>
            </a:avLst>
          </a:prstGeom>
          <a:solidFill>
            <a:srgbClr val="16283C"/>
          </a:solidFill>
          <a:ln/>
        </p:spPr>
      </p:sp>
      <p:sp>
        <p:nvSpPr>
          <p:cNvPr id="20" name="Shape 15"/>
          <p:cNvSpPr/>
          <p:nvPr/>
        </p:nvSpPr>
        <p:spPr>
          <a:xfrm>
            <a:off x="4864608" y="3749040"/>
            <a:ext cx="548640" cy="548640"/>
          </a:xfrm>
          <a:prstGeom prst="ellipse">
            <a:avLst/>
          </a:prstGeom>
          <a:solidFill>
            <a:srgbClr val="0E8C6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8862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5295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peer-to-peer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577840" y="389534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de capacidade computacional entre membros da comunidade.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produtos em 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EVA combina, em um único agente local, as ferramentas de IA que hoje exigem múltiplas assinaturas e serviços em nuvem.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3F6F9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7904" y="2057400"/>
            <a:ext cx="621792" cy="621792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2128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pessoal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ao dia a dia: escrita, análise, organização e automação de tarefas — com contexto que fica só com você.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78308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EEF7F3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61104" y="2057400"/>
            <a:ext cx="621792" cy="621792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2128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de código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20440" y="32004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desenvolvimento com IA integrada para criar, revisar e depurar código localmente.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78308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3F6F9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04304" y="2057400"/>
            <a:ext cx="621792" cy="621792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221284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conhecimento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63640" y="32004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 e consulta seus documentos e bases de conhecimento de forma privada e personalizada.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44988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8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Rede peer-to-peer: </a:t>
            </a:r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membros compartilham capacidade computacional entre si, ampliando o poder da comunidade como um todo.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Tamanho da oportunidade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PUC Angels é o ponto de partida — e comunidades acadêmicas e tecnológicas locais ampliam o alcance nos primeiros 24 meses.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3F6F9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8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membros ativos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rede PUC Angels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78308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3F6F9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8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47472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no 1º ano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(70% de adoção estimada)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E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21792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potenciais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3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24 meses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886200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87552" y="38404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recorrência: dezenas de interações diárias por usuário, consolidando a EVA como ferramenta de uso cotidiano.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principal: usuários que adotam a EVA e a utilizam regularmente — meta de engajar 70% da rede em 12 meses.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de criação de valor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EEF7F3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508760"/>
            <a:ext cx="530352" cy="530352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3677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9888" y="15087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8096" y="2240280"/>
            <a:ext cx="21762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custos operacionais com IA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da adoção tecnológica na comunidade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 à inovação colaborativa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3F6F9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93008" y="1508760"/>
            <a:ext cx="530352" cy="530352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63677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33088" y="15087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Premissa-chave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511296" y="2240280"/>
            <a:ext cx="21762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comunidade PUC Angels está interessada e disposta a colaborar no desenvolvimento e na adoção da EVA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28016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3F6F9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36208" y="1508760"/>
            <a:ext cx="530352" cy="530352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63677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76288" y="15087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mapeados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254496" y="2240280"/>
            <a:ext cx="21762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adesão dos membros da comunidade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técnicos para garantir execução local eficiente e sustentável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8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 desenvolvimento aberto e iterativo com a própria comunidade, validando valor desde as primeiras versões.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Feito pela comunidade, para a comunidade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será conduzido com esforço voluntário do Comitê de IA da PUC Angels — sem necessidade de investimento financeiro.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926080" cy="2651760"/>
          </a:xfrm>
          <a:prstGeom prst="roundRect">
            <a:avLst>
              <a:gd name="adj" fmla="val 3448"/>
            </a:avLst>
          </a:prstGeom>
          <a:solidFill>
            <a:srgbClr val="1628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EE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investimento necessário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3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 escala movidos a voluntariado e código aberto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86200" y="1901952"/>
            <a:ext cx="512064" cy="512064"/>
          </a:xfrm>
          <a:prstGeom prst="ellipse">
            <a:avLst/>
          </a:prstGeom>
          <a:solidFill>
            <a:srgbClr val="0E8C6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4216" y="202996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voluntário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0" y="21396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e talento dos membros do Comitê de IA e da rede.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86200" y="2816352"/>
            <a:ext cx="512064" cy="512064"/>
          </a:xfrm>
          <a:prstGeom prst="ellipse">
            <a:avLst/>
          </a:prstGeom>
          <a:solidFill>
            <a:srgbClr val="0E8C6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216" y="294436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743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0" y="30540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aberto: qualquer membro pode contribuir, revisar e evoluir o código.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886200" y="3730752"/>
            <a:ext cx="512064" cy="512064"/>
          </a:xfrm>
          <a:prstGeom prst="ellipse">
            <a:avLst/>
          </a:prstGeom>
          <a:solidFill>
            <a:srgbClr val="0E8C6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16" y="38587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0" y="3657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ativa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572000" y="39684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desenvolvimento no WhatsApp já em operação, com cadência semanal de comunicação.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3886200"/>
            <a:ext cx="731520" cy="548640"/>
          </a:xfrm>
          <a:prstGeom prst="line">
            <a:avLst/>
          </a:prstGeom>
          <a:noFill/>
          <a:ln w="9525">
            <a:solidFill>
              <a:srgbClr val="2EE6A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366760" y="3611880"/>
            <a:ext cx="365760" cy="822960"/>
          </a:xfrm>
          <a:prstGeom prst="line">
            <a:avLst/>
          </a:prstGeom>
          <a:noFill/>
          <a:ln w="9525">
            <a:solidFill>
              <a:srgbClr val="2EE6A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092440" y="4434840"/>
            <a:ext cx="274320" cy="365760"/>
          </a:xfrm>
          <a:prstGeom prst="line">
            <a:avLst/>
          </a:prstGeom>
          <a:noFill/>
          <a:ln w="9525">
            <a:solidFill>
              <a:srgbClr val="2EE6A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840480"/>
            <a:ext cx="91440" cy="91440"/>
          </a:xfrm>
          <a:prstGeom prst="ellipse">
            <a:avLst/>
          </a:prstGeom>
          <a:solidFill>
            <a:srgbClr val="2EE6A8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4389120"/>
            <a:ext cx="91440" cy="91440"/>
          </a:xfrm>
          <a:prstGeom prst="ellipse">
            <a:avLst/>
          </a:prstGeom>
          <a:solidFill>
            <a:srgbClr val="2EE6A8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686800" y="3566160"/>
            <a:ext cx="91440" cy="91440"/>
          </a:xfrm>
          <a:prstGeom prst="ellipse">
            <a:avLst/>
          </a:prstGeom>
          <a:solidFill>
            <a:srgbClr val="2EE6A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4754880"/>
            <a:ext cx="91440" cy="91440"/>
          </a:xfrm>
          <a:prstGeom prst="ellipse">
            <a:avLst/>
          </a:prstGeom>
          <a:solidFill>
            <a:srgbClr val="2EE6A8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DE HOJE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0515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construir a EVA juntos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3840480" cy="1691640"/>
          </a:xfrm>
          <a:prstGeom prst="roundRect">
            <a:avLst>
              <a:gd name="adj" fmla="val 4865"/>
            </a:avLst>
          </a:prstGeom>
          <a:solidFill>
            <a:srgbClr val="16283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377440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63040" y="2331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kickoff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96112" y="28803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a reunião de kickoff para definir objetivos, organização do time e primeiros passos técnicos.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754880" y="2103120"/>
            <a:ext cx="3840480" cy="1691640"/>
          </a:xfrm>
          <a:prstGeom prst="roundRect">
            <a:avLst>
              <a:gd name="adj" fmla="val 4865"/>
            </a:avLst>
          </a:prstGeom>
          <a:solidFill>
            <a:srgbClr val="16283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237744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77840" y="2331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 premissa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5010912" y="28803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o interesse e a disposição da comunidade PUC Angels em colaborar no desenvolvimento e na adoção da EVA.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4008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EVA  ·  Comitê de IA  ·  PUC Angels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EVA — IA Local, Privada e Open Source</dc:title>
  <dc:subject>PptxGenJS Presentation</dc:subject>
  <dc:creator>Comitê de IA — PUC Angels</dc:creator>
  <cp:lastModifiedBy>Comitê de IA — PUC Angels</cp:lastModifiedBy>
  <cp:revision>1</cp:revision>
  <dcterms:created xsi:type="dcterms:W3CDTF">2026-06-11T22:00:33Z</dcterms:created>
  <dcterms:modified xsi:type="dcterms:W3CDTF">2026-06-11T22:00:33Z</dcterms:modified>
</cp:coreProperties>
</file>